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</p:sldIdLst>
  <p:sldSz cx="14630400" cy="8229600"/>
  <p:notesSz cx="8229600" cy="14630400"/>
  <p:embeddedFontLst>
    <p:embeddedFont>
      <p:font typeface="Nunito Semi Bold" panose="020B0604020202020204" charset="0"/>
      <p:regular r:id="rId12"/>
    </p:embeddedFont>
    <p:embeddedFont>
      <p:font typeface="PT Sans" panose="020B0503020203020204" pitchFamily="34" charset="0"/>
      <p:regular r:id="rId13"/>
      <p:bold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3" d="100"/>
          <a:sy n="53" d="100"/>
        </p:scale>
        <p:origin x="74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90831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37724" y="3058715"/>
            <a:ext cx="12926402" cy="45211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News Article Categorization Using Naïve Bayes     and TF-IDF</a:t>
            </a:r>
          </a:p>
          <a:p>
            <a:pPr marL="0" indent="0" algn="l">
              <a:lnSpc>
                <a:spcPts val="5500"/>
              </a:lnSpc>
              <a:buNone/>
            </a:pPr>
            <a:endParaRPr lang="en-US" sz="4400" dirty="0">
              <a:solidFill>
                <a:srgbClr val="FFFFFF"/>
              </a:solidFill>
              <a:latin typeface="Nunito Semi Bold" pitchFamily="34" charset="0"/>
            </a:endParaRPr>
          </a:p>
          <a:p>
            <a:pPr marL="0" indent="0" algn="l">
              <a:lnSpc>
                <a:spcPts val="55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Nunito Semi Bold" pitchFamily="34" charset="0"/>
              </a:rPr>
              <a:t>Name: Riya </a:t>
            </a:r>
            <a:r>
              <a:rPr lang="en-US" sz="2000" dirty="0" err="1">
                <a:solidFill>
                  <a:srgbClr val="FFFFFF"/>
                </a:solidFill>
                <a:latin typeface="Nunito Semi Bold" pitchFamily="34" charset="0"/>
              </a:rPr>
              <a:t>Kaitharam</a:t>
            </a:r>
            <a:r>
              <a:rPr lang="en-US" sz="2000" dirty="0">
                <a:solidFill>
                  <a:srgbClr val="FFFFFF"/>
                </a:solidFill>
                <a:latin typeface="Nunito Semi Bold" pitchFamily="34" charset="0"/>
              </a:rPr>
              <a:t> Varghese</a:t>
            </a:r>
          </a:p>
          <a:p>
            <a:pPr marL="0" indent="0" algn="l">
              <a:lnSpc>
                <a:spcPts val="55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Nunito Semi Bold" pitchFamily="34" charset="0"/>
              </a:rPr>
              <a:t>Reg No: 2363055</a:t>
            </a:r>
            <a:endParaRPr lang="en-US" sz="20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37E07FA-09FF-171B-264B-B6B2D9BF2379}"/>
              </a:ext>
            </a:extLst>
          </p:cNvPr>
          <p:cNvSpPr/>
          <p:nvPr/>
        </p:nvSpPr>
        <p:spPr>
          <a:xfrm>
            <a:off x="0" y="7736305"/>
            <a:ext cx="14630400" cy="49329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5213" y="593408"/>
            <a:ext cx="13119616" cy="634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Introduction: The Challenge of Organizing News Content</a:t>
            </a:r>
            <a:endParaRPr lang="en-US" sz="3950" dirty="0"/>
          </a:p>
        </p:txBody>
      </p:sp>
      <p:sp>
        <p:nvSpPr>
          <p:cNvPr id="3" name="Text 1"/>
          <p:cNvSpPr/>
          <p:nvPr/>
        </p:nvSpPr>
        <p:spPr>
          <a:xfrm>
            <a:off x="755213" y="1745933"/>
            <a:ext cx="10470250" cy="1381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In today's fast-paced digital landscape, an </a:t>
            </a:r>
            <a:r>
              <a:rPr lang="en-US" sz="2000" dirty="0">
                <a:solidFill>
                  <a:srgbClr val="F2B42D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overwhelming volume of news articles</a:t>
            </a:r>
            <a:r>
              <a:rPr lang="en-US" sz="2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is published daily, making manual organization impractical and inefficient. As of 2025, estimates suggest over 5 million news articles are published worldwide every day.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55213" y="3321248"/>
            <a:ext cx="10470250" cy="1381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This necessitates </a:t>
            </a:r>
            <a:r>
              <a:rPr lang="en-US" sz="2000" dirty="0">
                <a:solidFill>
                  <a:srgbClr val="48A8E2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automated classification</a:t>
            </a:r>
            <a:r>
              <a:rPr lang="en-US" sz="2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to enable faster, scalable content organization. Such systems are crucial for personalized news delivery, helping users navigate the vast information space and find relevant content instantly</a:t>
            </a:r>
            <a:r>
              <a:rPr lang="en-US" sz="16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.</a:t>
            </a:r>
            <a:endParaRPr lang="en-US" sz="165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6E5B105-0229-C250-C4E0-995477E3E246}"/>
              </a:ext>
            </a:extLst>
          </p:cNvPr>
          <p:cNvSpPr/>
          <p:nvPr/>
        </p:nvSpPr>
        <p:spPr>
          <a:xfrm>
            <a:off x="0" y="7736305"/>
            <a:ext cx="14630400" cy="49329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370171"/>
            <a:ext cx="12954952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Problem Statement: Why Categorize News Articles?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3256955"/>
            <a:ext cx="12954952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Accurate and real-time news categorization is paramount for improving user experience and analytics in the digital age. News content covers an </a:t>
            </a:r>
            <a:r>
              <a:rPr lang="en-US" sz="1850" dirty="0">
                <a:solidFill>
                  <a:srgbClr val="D7425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immense diversity of topics</a:t>
            </a: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, ranging from politics and health to technology and religion.</a:t>
            </a:r>
            <a:endParaRPr lang="en-US" sz="1850" dirty="0"/>
          </a:p>
        </p:txBody>
      </p:sp>
      <p:sp>
        <p:nvSpPr>
          <p:cNvPr id="4" name="Shape 2"/>
          <p:cNvSpPr/>
          <p:nvPr/>
        </p:nvSpPr>
        <p:spPr>
          <a:xfrm>
            <a:off x="837724" y="4292203"/>
            <a:ext cx="4158734" cy="2567226"/>
          </a:xfrm>
          <a:prstGeom prst="roundRect">
            <a:avLst>
              <a:gd name="adj" fmla="val 5699"/>
            </a:avLst>
          </a:prstGeom>
          <a:solidFill>
            <a:srgbClr val="00002E">
              <a:alpha val="75000"/>
            </a:srgbClr>
          </a:solidFill>
          <a:ln w="30480">
            <a:solidFill>
              <a:srgbClr val="F2B4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7244" y="4292203"/>
            <a:ext cx="121920" cy="2567226"/>
          </a:xfrm>
          <a:prstGeom prst="roundRect">
            <a:avLst>
              <a:gd name="adj" fmla="val 294514"/>
            </a:avLst>
          </a:prstGeom>
          <a:solidFill>
            <a:srgbClr val="F2B42D"/>
          </a:solidFill>
          <a:ln/>
        </p:spPr>
      </p:sp>
      <p:sp>
        <p:nvSpPr>
          <p:cNvPr id="6" name="Text 4"/>
          <p:cNvSpPr/>
          <p:nvPr/>
        </p:nvSpPr>
        <p:spPr>
          <a:xfrm>
            <a:off x="1198959" y="4561999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High Volume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98959" y="5057537"/>
            <a:ext cx="3527703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The sheer quantity of daily news makes manual tagging impossible, requiring automated solutions.</a:t>
            </a:r>
            <a:endParaRPr lang="en-US" sz="1850" dirty="0"/>
          </a:p>
        </p:txBody>
      </p:sp>
      <p:sp>
        <p:nvSpPr>
          <p:cNvPr id="8" name="Shape 6"/>
          <p:cNvSpPr/>
          <p:nvPr/>
        </p:nvSpPr>
        <p:spPr>
          <a:xfrm>
            <a:off x="5235773" y="4292203"/>
            <a:ext cx="4158734" cy="2567226"/>
          </a:xfrm>
          <a:prstGeom prst="roundRect">
            <a:avLst>
              <a:gd name="adj" fmla="val 5699"/>
            </a:avLst>
          </a:prstGeom>
          <a:solidFill>
            <a:srgbClr val="00002E">
              <a:alpha val="75000"/>
            </a:srgbClr>
          </a:solidFill>
          <a:ln w="30480">
            <a:solidFill>
              <a:srgbClr val="D7425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205293" y="4292203"/>
            <a:ext cx="121920" cy="2567226"/>
          </a:xfrm>
          <a:prstGeom prst="roundRect">
            <a:avLst>
              <a:gd name="adj" fmla="val 294514"/>
            </a:avLst>
          </a:prstGeom>
          <a:solidFill>
            <a:srgbClr val="D7425E"/>
          </a:solidFill>
          <a:ln/>
        </p:spPr>
      </p:sp>
      <p:sp>
        <p:nvSpPr>
          <p:cNvPr id="10" name="Text 8"/>
          <p:cNvSpPr/>
          <p:nvPr/>
        </p:nvSpPr>
        <p:spPr>
          <a:xfrm>
            <a:off x="5597009" y="4561999"/>
            <a:ext cx="3104078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Overlapping Vocabulary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597009" y="5057537"/>
            <a:ext cx="3527703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Many topics share similar terms, posing a challenge for precise classification algorithms.</a:t>
            </a:r>
            <a:endParaRPr lang="en-US" sz="1850" dirty="0"/>
          </a:p>
        </p:txBody>
      </p:sp>
      <p:sp>
        <p:nvSpPr>
          <p:cNvPr id="12" name="Shape 10"/>
          <p:cNvSpPr/>
          <p:nvPr/>
        </p:nvSpPr>
        <p:spPr>
          <a:xfrm>
            <a:off x="9633823" y="4292203"/>
            <a:ext cx="4158853" cy="2567226"/>
          </a:xfrm>
          <a:prstGeom prst="roundRect">
            <a:avLst>
              <a:gd name="adj" fmla="val 5699"/>
            </a:avLst>
          </a:prstGeom>
          <a:solidFill>
            <a:srgbClr val="00002E">
              <a:alpha val="75000"/>
            </a:srgbClr>
          </a:solidFill>
          <a:ln w="30480">
            <a:solidFill>
              <a:srgbClr val="DD785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603343" y="4292203"/>
            <a:ext cx="121920" cy="2567226"/>
          </a:xfrm>
          <a:prstGeom prst="roundRect">
            <a:avLst>
              <a:gd name="adj" fmla="val 294514"/>
            </a:avLst>
          </a:prstGeom>
          <a:solidFill>
            <a:srgbClr val="DD785E"/>
          </a:solidFill>
          <a:ln/>
        </p:spPr>
      </p:sp>
      <p:sp>
        <p:nvSpPr>
          <p:cNvPr id="14" name="Text 12"/>
          <p:cNvSpPr/>
          <p:nvPr/>
        </p:nvSpPr>
        <p:spPr>
          <a:xfrm>
            <a:off x="9995059" y="4561999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Evolving Language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995059" y="5057537"/>
            <a:ext cx="3527822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News language constantly changes with current events, demanding adaptive and robust classification models.</a:t>
            </a:r>
            <a:endParaRPr lang="en-US" sz="185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7025CBE-4836-9F88-C558-8EB7C35DFFB3}"/>
              </a:ext>
            </a:extLst>
          </p:cNvPr>
          <p:cNvSpPr/>
          <p:nvPr/>
        </p:nvSpPr>
        <p:spPr>
          <a:xfrm>
            <a:off x="0" y="7736305"/>
            <a:ext cx="14630400" cy="49329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1055" y="645081"/>
            <a:ext cx="12988290" cy="13799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Methodology Overview: Combining Naïve Bayes with TF-IDF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821055" y="2494121"/>
            <a:ext cx="12988290" cy="750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To address the complexities of news article categorization, we employ a robust methodology that leverages the strengths of two powerful techniques: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21055" y="3508534"/>
            <a:ext cx="6376868" cy="3064669"/>
          </a:xfrm>
          <a:prstGeom prst="roundRect">
            <a:avLst>
              <a:gd name="adj" fmla="val 11483"/>
            </a:avLst>
          </a:prstGeom>
          <a:solidFill>
            <a:srgbClr val="00002E"/>
          </a:solidFill>
          <a:ln w="22860">
            <a:solidFill>
              <a:srgbClr val="DD785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468" y="3765947"/>
            <a:ext cx="703778" cy="703778"/>
          </a:xfrm>
          <a:prstGeom prst="roundRect">
            <a:avLst>
              <a:gd name="adj" fmla="val 12991434"/>
            </a:avLst>
          </a:prstGeom>
          <a:solidFill>
            <a:srgbClr val="DD785E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1945" y="3919895"/>
            <a:ext cx="316706" cy="3958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78468" y="4704278"/>
            <a:ext cx="2780586" cy="344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Naïve Bayes Classifier</a:t>
            </a:r>
            <a:endParaRPr lang="en-US" sz="2150" dirty="0"/>
          </a:p>
        </p:txBody>
      </p:sp>
      <p:sp>
        <p:nvSpPr>
          <p:cNvPr id="8" name="Text 5"/>
          <p:cNvSpPr/>
          <p:nvPr/>
        </p:nvSpPr>
        <p:spPr>
          <a:xfrm>
            <a:off x="1078468" y="5189934"/>
            <a:ext cx="5862042" cy="11258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 probabilistic classifier that assumes feature independence, making it </a:t>
            </a:r>
            <a:r>
              <a:rPr lang="en-US" sz="180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computationally efficient</a:t>
            </a:r>
            <a:r>
              <a:rPr lang="en-US" sz="18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and highly effective for text classification tasks.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7432477" y="3508534"/>
            <a:ext cx="6376868" cy="3064669"/>
          </a:xfrm>
          <a:prstGeom prst="roundRect">
            <a:avLst>
              <a:gd name="adj" fmla="val 11483"/>
            </a:avLst>
          </a:prstGeom>
          <a:solidFill>
            <a:srgbClr val="00002E"/>
          </a:solidFill>
          <a:ln w="22860">
            <a:solidFill>
              <a:srgbClr val="48A8E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689890" y="3765947"/>
            <a:ext cx="703778" cy="703778"/>
          </a:xfrm>
          <a:prstGeom prst="roundRect">
            <a:avLst>
              <a:gd name="adj" fmla="val 12991434"/>
            </a:avLst>
          </a:prstGeom>
          <a:solidFill>
            <a:srgbClr val="48A8E2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3366" y="3919895"/>
            <a:ext cx="316706" cy="39588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89890" y="4704278"/>
            <a:ext cx="2759988" cy="344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TF-IDF Vectorization</a:t>
            </a:r>
            <a:endParaRPr lang="en-US" sz="2150" dirty="0"/>
          </a:p>
        </p:txBody>
      </p:sp>
      <p:sp>
        <p:nvSpPr>
          <p:cNvPr id="13" name="Text 9"/>
          <p:cNvSpPr/>
          <p:nvPr/>
        </p:nvSpPr>
        <p:spPr>
          <a:xfrm>
            <a:off x="7689890" y="5189934"/>
            <a:ext cx="5862042" cy="11258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Transforms raw text into </a:t>
            </a:r>
            <a:r>
              <a:rPr lang="en-US" sz="180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weighted numerical features</a:t>
            </a:r>
            <a:r>
              <a:rPr lang="en-US" sz="18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, reflecting the importance of words within an article relative to the entire dataset.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821055" y="6837045"/>
            <a:ext cx="12988290" cy="750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Together, these methods enable efficient and accurate topic prediction from raw textual data, forming the backbone of our categorization system.</a:t>
            </a:r>
            <a:endParaRPr lang="en-US" sz="18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175547C-DC4F-1D23-C3AA-1AB91CEA7637}"/>
              </a:ext>
            </a:extLst>
          </p:cNvPr>
          <p:cNvSpPr/>
          <p:nvPr/>
        </p:nvSpPr>
        <p:spPr>
          <a:xfrm>
            <a:off x="0" y="7736305"/>
            <a:ext cx="14630400" cy="49329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2588" y="551974"/>
            <a:ext cx="11186517" cy="590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7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Flow Diagram: News Article Categorization Pipeline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118" y="1543764"/>
            <a:ext cx="13116163" cy="56560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39627" y="6138179"/>
            <a:ext cx="2800421" cy="3498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Naïve Bayes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639627" y="4828891"/>
            <a:ext cx="2800421" cy="3498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TF-IDF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1639627" y="3532829"/>
            <a:ext cx="2800421" cy="3498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Preprocessing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1639627" y="2223542"/>
            <a:ext cx="2800421" cy="3498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Raw News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02588" y="7425571"/>
            <a:ext cx="13225224" cy="642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This pipeline illustrates the systematic transformation of raw news text into categorized output, ensuring a streamlined and effective classification process.</a:t>
            </a:r>
            <a:endParaRPr lang="en-US" sz="155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C1F2688-FA71-9C04-6B94-471465A98178}"/>
              </a:ext>
            </a:extLst>
          </p:cNvPr>
          <p:cNvSpPr/>
          <p:nvPr/>
        </p:nvSpPr>
        <p:spPr>
          <a:xfrm>
            <a:off x="0" y="7736305"/>
            <a:ext cx="14630400" cy="49329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8775" y="534829"/>
            <a:ext cx="10273427" cy="5704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Dataset Creation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678775" y="1493163"/>
            <a:ext cx="13272849" cy="620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 high-quality, representative dataset is fundamental for training effective machine learning models. We meticulously curated our training set to ensure robustness and minimize bias.</a:t>
            </a:r>
            <a:endParaRPr lang="en-US" sz="1500" dirty="0"/>
          </a:p>
        </p:txBody>
      </p:sp>
      <p:sp>
        <p:nvSpPr>
          <p:cNvPr id="6" name="Shape 2"/>
          <p:cNvSpPr/>
          <p:nvPr/>
        </p:nvSpPr>
        <p:spPr>
          <a:xfrm>
            <a:off x="678775" y="2501623"/>
            <a:ext cx="436364" cy="436364"/>
          </a:xfrm>
          <a:prstGeom prst="roundRect">
            <a:avLst>
              <a:gd name="adj" fmla="val 66675"/>
            </a:avLst>
          </a:prstGeom>
          <a:solidFill>
            <a:srgbClr val="00002E"/>
          </a:solidFill>
          <a:ln w="22860">
            <a:solidFill>
              <a:srgbClr val="F2B42D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1309091" y="2577168"/>
            <a:ext cx="2281833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Diverse Collection</a:t>
            </a: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1309091" y="2964893"/>
            <a:ext cx="5884902" cy="620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400"/>
              </a:lnSpc>
            </a:pPr>
            <a:r>
              <a:rPr lang="en-US" sz="1600" dirty="0">
                <a:solidFill>
                  <a:schemeClr val="bg1"/>
                </a:solidFill>
              </a:rPr>
              <a:t>Collected around </a:t>
            </a:r>
            <a:r>
              <a:rPr lang="en-US" sz="1600" b="1" dirty="0">
                <a:solidFill>
                  <a:schemeClr val="bg1"/>
                </a:solidFill>
              </a:rPr>
              <a:t>40–60 news snippets</a:t>
            </a:r>
            <a:r>
              <a:rPr lang="en-US" sz="1600" dirty="0">
                <a:solidFill>
                  <a:schemeClr val="bg1"/>
                </a:solidFill>
              </a:rPr>
              <a:t> from online sources and manually created samples to ensure coverage across categories.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9" name="Shape 5"/>
          <p:cNvSpPr/>
          <p:nvPr/>
        </p:nvSpPr>
        <p:spPr>
          <a:xfrm>
            <a:off x="7193993" y="2577168"/>
            <a:ext cx="436364" cy="436364"/>
          </a:xfrm>
          <a:prstGeom prst="roundRect">
            <a:avLst>
              <a:gd name="adj" fmla="val 66675"/>
            </a:avLst>
          </a:prstGeom>
          <a:solidFill>
            <a:srgbClr val="00002E"/>
          </a:solidFill>
          <a:ln w="22860">
            <a:solidFill>
              <a:srgbClr val="D7425E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872770" y="2603513"/>
            <a:ext cx="2281833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Defined Categories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7872770" y="2971794"/>
            <a:ext cx="5884902" cy="620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400"/>
              </a:lnSpc>
            </a:pPr>
            <a:r>
              <a:rPr lang="en-US" sz="1600" dirty="0">
                <a:solidFill>
                  <a:schemeClr val="bg1"/>
                </a:solidFill>
              </a:rPr>
              <a:t>Articles were assigned to four core categories: </a:t>
            </a:r>
            <a:r>
              <a:rPr lang="en-US" sz="1600" b="1" dirty="0">
                <a:solidFill>
                  <a:schemeClr val="bg1"/>
                </a:solidFill>
              </a:rPr>
              <a:t>Politics, Sports, Entertainment, and Technology</a:t>
            </a:r>
            <a:r>
              <a:rPr lang="en-US" sz="1600" dirty="0">
                <a:solidFill>
                  <a:schemeClr val="bg1"/>
                </a:solidFill>
              </a:rPr>
              <a:t>.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12" name="Shape 8"/>
          <p:cNvSpPr/>
          <p:nvPr/>
        </p:nvSpPr>
        <p:spPr>
          <a:xfrm>
            <a:off x="678775" y="4500419"/>
            <a:ext cx="436364" cy="436364"/>
          </a:xfrm>
          <a:prstGeom prst="roundRect">
            <a:avLst>
              <a:gd name="adj" fmla="val 66675"/>
            </a:avLst>
          </a:prstGeom>
          <a:solidFill>
            <a:srgbClr val="00002E"/>
          </a:solidFill>
          <a:ln w="22860">
            <a:solidFill>
              <a:srgbClr val="DD785E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1309092" y="4575964"/>
            <a:ext cx="2281833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Balanced Distribution</a:t>
            </a:r>
            <a:endParaRPr lang="en-US" sz="1750" dirty="0"/>
          </a:p>
        </p:txBody>
      </p:sp>
      <p:sp>
        <p:nvSpPr>
          <p:cNvPr id="14" name="Text 10"/>
          <p:cNvSpPr/>
          <p:nvPr/>
        </p:nvSpPr>
        <p:spPr>
          <a:xfrm>
            <a:off x="1309091" y="5100919"/>
            <a:ext cx="5884902" cy="620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400"/>
              </a:lnSpc>
            </a:pPr>
            <a:r>
              <a:rPr lang="en-US" sz="1600" dirty="0">
                <a:solidFill>
                  <a:schemeClr val="bg1"/>
                </a:solidFill>
              </a:rPr>
              <a:t>Ensured approximately </a:t>
            </a:r>
            <a:r>
              <a:rPr lang="en-US" sz="1600" b="1" dirty="0">
                <a:solidFill>
                  <a:schemeClr val="bg1"/>
                </a:solidFill>
              </a:rPr>
              <a:t>10–15 articles per category</a:t>
            </a:r>
            <a:r>
              <a:rPr lang="en-US" sz="1600" dirty="0">
                <a:solidFill>
                  <a:schemeClr val="bg1"/>
                </a:solidFill>
              </a:rPr>
              <a:t> to maintain balance and avoid bias towards any single topic.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15" name="Shape 11"/>
          <p:cNvSpPr/>
          <p:nvPr/>
        </p:nvSpPr>
        <p:spPr>
          <a:xfrm>
            <a:off x="7193993" y="4544715"/>
            <a:ext cx="436364" cy="436364"/>
          </a:xfrm>
          <a:prstGeom prst="roundRect">
            <a:avLst>
              <a:gd name="adj" fmla="val 66675"/>
            </a:avLst>
          </a:prstGeom>
          <a:solidFill>
            <a:srgbClr val="00002E"/>
          </a:solidFill>
          <a:ln w="22860">
            <a:solidFill>
              <a:srgbClr val="48A8E2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872770" y="4591518"/>
            <a:ext cx="2281833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Rigorous Cleaning</a:t>
            </a:r>
            <a:endParaRPr lang="en-US" sz="1750" dirty="0"/>
          </a:p>
        </p:txBody>
      </p:sp>
      <p:sp>
        <p:nvSpPr>
          <p:cNvPr id="17" name="Text 13"/>
          <p:cNvSpPr/>
          <p:nvPr/>
        </p:nvSpPr>
        <p:spPr>
          <a:xfrm>
            <a:off x="7872770" y="4999584"/>
            <a:ext cx="5884902" cy="620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400"/>
              </a:lnSpc>
            </a:pPr>
            <a:r>
              <a:rPr lang="en-US" sz="1600" dirty="0">
                <a:solidFill>
                  <a:schemeClr val="bg1"/>
                </a:solidFill>
              </a:rPr>
              <a:t>Data was cleaned by removing duplicates and converting all text to a consistent format (lowercasing, </a:t>
            </a:r>
            <a:r>
              <a:rPr lang="en-US" sz="1600" dirty="0" err="1">
                <a:solidFill>
                  <a:schemeClr val="bg1"/>
                </a:solidFill>
              </a:rPr>
              <a:t>stopword</a:t>
            </a:r>
            <a:r>
              <a:rPr lang="en-US" sz="1600" dirty="0">
                <a:solidFill>
                  <a:schemeClr val="bg1"/>
                </a:solidFill>
              </a:rPr>
              <a:t> removal, etc.).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C01B495-F6A6-4ABA-F1B6-13C73547AC1E}"/>
              </a:ext>
            </a:extLst>
          </p:cNvPr>
          <p:cNvSpPr/>
          <p:nvPr/>
        </p:nvSpPr>
        <p:spPr>
          <a:xfrm>
            <a:off x="0" y="7736305"/>
            <a:ext cx="14630400" cy="49329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7459" y="494348"/>
            <a:ext cx="8106728" cy="527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Text Preprocessing and Feature Extraction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27459" y="1380053"/>
            <a:ext cx="13375481" cy="2868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Before classification, raw text must be transformed into a format suitable for machine learning algorithms. This involves a series of critical preprocessing steps.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459" y="1868567"/>
            <a:ext cx="896302" cy="107561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02951" y="2047756"/>
            <a:ext cx="2109192" cy="263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Raw Text Input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1702951" y="2418993"/>
            <a:ext cx="12299990" cy="2868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Unprocessed news articles.</a:t>
            </a:r>
            <a:endParaRPr lang="en-US" sz="14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459" y="2944178"/>
            <a:ext cx="896302" cy="107561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702951" y="3123367"/>
            <a:ext cx="2109192" cy="263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Tokenization</a:t>
            </a:r>
            <a:endParaRPr lang="en-US" sz="1650" dirty="0"/>
          </a:p>
        </p:txBody>
      </p:sp>
      <p:sp>
        <p:nvSpPr>
          <p:cNvPr id="9" name="Text 5"/>
          <p:cNvSpPr/>
          <p:nvPr/>
        </p:nvSpPr>
        <p:spPr>
          <a:xfrm>
            <a:off x="1702951" y="3494603"/>
            <a:ext cx="12299990" cy="2868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Splitting sentences and paragraphs into individual words or tokens.</a:t>
            </a:r>
            <a:endParaRPr lang="en-US" sz="14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459" y="4019788"/>
            <a:ext cx="896302" cy="107561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702951" y="4198977"/>
            <a:ext cx="2109192" cy="263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Stopword Removal</a:t>
            </a:r>
            <a:endParaRPr lang="en-US" sz="1650" dirty="0"/>
          </a:p>
        </p:txBody>
      </p:sp>
      <p:sp>
        <p:nvSpPr>
          <p:cNvPr id="12" name="Text 7"/>
          <p:cNvSpPr/>
          <p:nvPr/>
        </p:nvSpPr>
        <p:spPr>
          <a:xfrm>
            <a:off x="1702951" y="4570214"/>
            <a:ext cx="12299990" cy="2868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Eliminating common, non-informative words (e.g., "the," "is," "and") to reduce noise.</a:t>
            </a:r>
            <a:endParaRPr lang="en-US" sz="14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459" y="5095399"/>
            <a:ext cx="896302" cy="107561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702951" y="5274588"/>
            <a:ext cx="2109192" cy="263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TF-IDF Vectorization</a:t>
            </a:r>
            <a:endParaRPr lang="en-US" sz="1650" dirty="0"/>
          </a:p>
        </p:txBody>
      </p:sp>
      <p:sp>
        <p:nvSpPr>
          <p:cNvPr id="15" name="Text 9"/>
          <p:cNvSpPr/>
          <p:nvPr/>
        </p:nvSpPr>
        <p:spPr>
          <a:xfrm>
            <a:off x="1702951" y="5645825"/>
            <a:ext cx="12299990" cy="2868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Converting cleaned text into numerical </a:t>
            </a:r>
            <a:r>
              <a:rPr lang="en-US" sz="140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feature vectors</a:t>
            </a:r>
            <a:r>
              <a:rPr lang="en-US" sz="14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, quantifying word importance.</a:t>
            </a:r>
            <a:endParaRPr lang="en-US" sz="14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7459" y="6171009"/>
            <a:ext cx="896302" cy="1075611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702951" y="6350198"/>
            <a:ext cx="2109192" cy="263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Sparse Matrix</a:t>
            </a:r>
            <a:endParaRPr lang="en-US" sz="1650" dirty="0"/>
          </a:p>
        </p:txBody>
      </p:sp>
      <p:sp>
        <p:nvSpPr>
          <p:cNvPr id="18" name="Text 11"/>
          <p:cNvSpPr/>
          <p:nvPr/>
        </p:nvSpPr>
        <p:spPr>
          <a:xfrm>
            <a:off x="1702951" y="6721435"/>
            <a:ext cx="12299990" cy="2868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Resulting representation, highlighting relevant word frequencies for each article.</a:t>
            </a:r>
            <a:endParaRPr lang="en-US" sz="1400" dirty="0"/>
          </a:p>
        </p:txBody>
      </p:sp>
      <p:sp>
        <p:nvSpPr>
          <p:cNvPr id="19" name="Text 12"/>
          <p:cNvSpPr/>
          <p:nvPr/>
        </p:nvSpPr>
        <p:spPr>
          <a:xfrm>
            <a:off x="627459" y="7448312"/>
            <a:ext cx="13375481" cy="2868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This process yields a sparse matrix, which efficiently represents the unique word importance within each article, ready for classification.</a:t>
            </a:r>
            <a:endParaRPr lang="en-US" sz="14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702D649-FF27-E691-5274-E5314E3182D8}"/>
              </a:ext>
            </a:extLst>
          </p:cNvPr>
          <p:cNvSpPr/>
          <p:nvPr/>
        </p:nvSpPr>
        <p:spPr>
          <a:xfrm>
            <a:off x="0" y="7736305"/>
            <a:ext cx="14630400" cy="49329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7118" y="594836"/>
            <a:ext cx="8599408" cy="636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Naïve Bayes Classifier: How It Works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757119" y="1750100"/>
            <a:ext cx="13123784" cy="1038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The Naïve Bayes classifier operates on the principle of </a:t>
            </a:r>
            <a:r>
              <a:rPr lang="en-US" sz="1700" dirty="0">
                <a:solidFill>
                  <a:srgbClr val="F2B42D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calculating the probability</a:t>
            </a:r>
            <a:r>
              <a:rPr lang="en-US" sz="17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of an article belonging to a specific category based on its word features.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757119" y="2983111"/>
            <a:ext cx="13123784" cy="1038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It simplifies calculations by assuming </a:t>
            </a:r>
            <a:r>
              <a:rPr lang="en-US" sz="170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independence between words</a:t>
            </a:r>
            <a:r>
              <a:rPr lang="en-US" sz="17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, a "naïve" assumption that surprisingly yields strong performance on high-dimensional text data.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757119" y="4097060"/>
            <a:ext cx="13123783" cy="1038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Its core strength lies in its </a:t>
            </a:r>
            <a:r>
              <a:rPr lang="en-US" sz="170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speed</a:t>
            </a:r>
            <a:r>
              <a:rPr lang="en-US" sz="17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for both training and prediction, making it highly suitable for real-time applications in dynamic news environments.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757119" y="5211008"/>
            <a:ext cx="13123783" cy="692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This efficiency allows for rapid classification of incoming articles, supporting </a:t>
            </a:r>
            <a:r>
              <a:rPr lang="en-US" sz="170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timely content delivery</a:t>
            </a:r>
            <a:r>
              <a:rPr lang="en-US" sz="17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.</a:t>
            </a:r>
            <a:endParaRPr lang="en-US" sz="17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40FF805-D655-AAFF-953F-6874249CBE4A}"/>
              </a:ext>
            </a:extLst>
          </p:cNvPr>
          <p:cNvSpPr/>
          <p:nvPr/>
        </p:nvSpPr>
        <p:spPr>
          <a:xfrm>
            <a:off x="0" y="7736305"/>
            <a:ext cx="14630400" cy="49329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8" y="0"/>
            <a:ext cx="5440681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5719" cy="8229600"/>
          </a:xfrm>
          <a:prstGeom prst="rect">
            <a:avLst/>
          </a:prstGeom>
          <a:solidFill>
            <a:srgbClr val="DFDFE0"/>
          </a:solidFill>
          <a:ln/>
        </p:spPr>
      </p:sp>
      <p:sp>
        <p:nvSpPr>
          <p:cNvPr id="5" name="Text 1"/>
          <p:cNvSpPr/>
          <p:nvPr/>
        </p:nvSpPr>
        <p:spPr>
          <a:xfrm>
            <a:off x="563077" y="720685"/>
            <a:ext cx="13335922" cy="1229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Conclusion</a:t>
            </a:r>
            <a:endParaRPr lang="en-US" sz="3850" dirty="0"/>
          </a:p>
        </p:txBody>
      </p:sp>
      <p:sp>
        <p:nvSpPr>
          <p:cNvPr id="6" name="Text 2"/>
          <p:cNvSpPr/>
          <p:nvPr/>
        </p:nvSpPr>
        <p:spPr>
          <a:xfrm>
            <a:off x="1491916" y="2263378"/>
            <a:ext cx="11386688" cy="2789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600"/>
              </a:lnSpc>
            </a:pPr>
            <a:r>
              <a:rPr lang="en-US" sz="2000" dirty="0">
                <a:solidFill>
                  <a:schemeClr val="bg1"/>
                </a:solidFill>
              </a:rPr>
              <a:t>The combination of </a:t>
            </a:r>
            <a:r>
              <a:rPr lang="en-US" sz="2000" b="1" dirty="0">
                <a:solidFill>
                  <a:schemeClr val="bg1"/>
                </a:solidFill>
              </a:rPr>
              <a:t>Naïve Bayes and TF-IDF</a:t>
            </a:r>
            <a:r>
              <a:rPr lang="en-US" sz="2000" dirty="0">
                <a:solidFill>
                  <a:schemeClr val="bg1"/>
                </a:solidFill>
              </a:rPr>
              <a:t> offers an efficient and resource-friendly solution for the task of news article categorization. Even with a relatively small and balanced dataset across categories such as </a:t>
            </a:r>
            <a:r>
              <a:rPr lang="en-US" sz="2000" b="1" dirty="0">
                <a:solidFill>
                  <a:schemeClr val="bg1"/>
                </a:solidFill>
              </a:rPr>
              <a:t>Politics, Sports, Entertainment, and Technology</a:t>
            </a:r>
            <a:r>
              <a:rPr lang="en-US" sz="2000" dirty="0">
                <a:solidFill>
                  <a:schemeClr val="bg1"/>
                </a:solidFill>
              </a:rPr>
              <a:t>, the approach demonstrates reliable performance. This project highlights how </a:t>
            </a:r>
            <a:r>
              <a:rPr lang="en-US" sz="2000" b="1" dirty="0">
                <a:solidFill>
                  <a:schemeClr val="bg1"/>
                </a:solidFill>
              </a:rPr>
              <a:t>lightweight NLP techniques</a:t>
            </a:r>
            <a:r>
              <a:rPr lang="en-US" sz="2000" dirty="0">
                <a:solidFill>
                  <a:schemeClr val="bg1"/>
                </a:solidFill>
              </a:rPr>
              <a:t> can be effectively applied to real-world text classification problems without the need for complex models. Furthermore, the methodology can be easily </a:t>
            </a:r>
            <a:r>
              <a:rPr lang="en-US" sz="2000" b="1" dirty="0">
                <a:solidFill>
                  <a:schemeClr val="bg1"/>
                </a:solidFill>
              </a:rPr>
              <a:t>scaled to larger datasets and extended to additional domains</a:t>
            </a:r>
            <a:r>
              <a:rPr lang="en-US" sz="2000" dirty="0">
                <a:solidFill>
                  <a:schemeClr val="bg1"/>
                </a:solidFill>
              </a:rPr>
              <a:t>, making it a practical foundation for future improvements in automated news categorization.</a:t>
            </a:r>
          </a:p>
        </p:txBody>
      </p:sp>
      <p:sp>
        <p:nvSpPr>
          <p:cNvPr id="8" name="Text 4"/>
          <p:cNvSpPr/>
          <p:nvPr/>
        </p:nvSpPr>
        <p:spPr>
          <a:xfrm>
            <a:off x="6449616" y="3733205"/>
            <a:ext cx="2458760" cy="307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449616" y="4165878"/>
            <a:ext cx="3272433" cy="133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0394633" y="3733205"/>
            <a:ext cx="2458760" cy="307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endParaRPr lang="en-US" sz="1900" dirty="0"/>
          </a:p>
        </p:txBody>
      </p:sp>
      <p:sp>
        <p:nvSpPr>
          <p:cNvPr id="14" name="Text 10"/>
          <p:cNvSpPr/>
          <p:nvPr/>
        </p:nvSpPr>
        <p:spPr>
          <a:xfrm>
            <a:off x="6449616" y="6175772"/>
            <a:ext cx="2458760" cy="307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endParaRPr lang="en-US" sz="19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3C920D7-2DD8-DF57-88B6-6A52318B99F2}"/>
              </a:ext>
            </a:extLst>
          </p:cNvPr>
          <p:cNvSpPr/>
          <p:nvPr/>
        </p:nvSpPr>
        <p:spPr>
          <a:xfrm>
            <a:off x="0" y="7736305"/>
            <a:ext cx="14630400" cy="49329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</TotalTime>
  <Words>772</Words>
  <Application>Microsoft Office PowerPoint</Application>
  <PresentationFormat>Custom</PresentationFormat>
  <Paragraphs>67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PT Sans</vt:lpstr>
      <vt:lpstr>Arial</vt:lpstr>
      <vt:lpstr>Nunito Semi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 E L L</dc:creator>
  <cp:lastModifiedBy>Sherin K Jacob</cp:lastModifiedBy>
  <cp:revision>6</cp:revision>
  <dcterms:created xsi:type="dcterms:W3CDTF">2025-09-09T14:58:12Z</dcterms:created>
  <dcterms:modified xsi:type="dcterms:W3CDTF">2025-09-12T09:45:21Z</dcterms:modified>
</cp:coreProperties>
</file>